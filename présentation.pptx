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6"/>
    <p:sldId id="271" r:id="rId17"/>
    <p:sldId id="272" r:id="rId18"/>
    <p:sldId id="273" r:id="rId19"/>
    <p:sldId id="274" r:id="rId20"/>
    <p:sldId id="283" r:id="rId15"/>
    <p:sldId id="275" r:id="rId21"/>
    <p:sldId id="276" r:id="rId22"/>
    <p:sldId id="277" r:id="rId23"/>
    <p:sldId id="278" r:id="rId24"/>
    <p:sldId id="282" r:id="rId33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8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A94D"/>
          </a:solidFill>
          <a:ln/>
        </p:spPr>
        <p:txBody>
          <a:bodyPr/>
          <a:p/>
        </p:txBody>
      </p:sp>
      <p:pic>
        <p:nvPicPr>
          <p:cNvPr id="3" name="Image 0" descr="/home/claude/art/cover_phot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320040"/>
            <a:ext cx="2999232" cy="53218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5544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 DATA SCIENCE  —  AUDIT ALGORITHMIQUE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77240" y="196596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Sésame,</a:t>
            </a:r>
            <a:endParaRPr lang="en-US" sz="5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ouvre-toi</a:t>
            </a:r>
            <a:endParaRPr lang="en-US" sz="5000" dirty="0"/>
          </a:p>
        </p:txBody>
      </p:sp>
      <p:sp>
        <p:nvSpPr>
          <p:cNvPr id="6" name="Text 3"/>
          <p:cNvSpPr/>
          <p:nvPr/>
        </p:nvSpPr>
        <p:spPr>
          <a:xfrm>
            <a:off x="822960" y="37490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de biais et d'équité algorithmique du système COMPAS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22960" y="4434840"/>
            <a:ext cx="2926080" cy="0"/>
          </a:xfrm>
          <a:prstGeom prst="line">
            <a:avLst/>
          </a:prstGeom>
          <a:noFill/>
          <a:ln w="19050">
            <a:solidFill>
              <a:srgbClr val="E8A94D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22960" y="461772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8A94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 SHAP is unlocking the secrets of complex models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8A94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 revealing their true potential. »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" y="5989320"/>
            <a:ext cx="10515600" cy="0"/>
          </a:xfrm>
          <a:prstGeom prst="line">
            <a:avLst/>
          </a:prstGeom>
          <a:noFill/>
          <a:ln w="12700">
            <a:solidFill>
              <a:srgbClr val="1C304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82296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Kahina ABBAD</a:t>
            </a:r>
            <a:pPr indent="0" marL="0">
              <a:buNone/>
            </a:pPr>
            <a:r>
              <a:rPr lang="en-US" sz="13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  </a:t>
            </a:r>
            <a:pPr indent="0" marL="0">
              <a:buNone/>
            </a:pPr>
            <a:r>
              <a:rPr lang="en-US" sz="1300" b="1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Dorène Bamiyong Abessolo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138160" y="6126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Plateforme  •  Juillet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SOMMAIRE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du projet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1C3049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965960"/>
            <a:ext cx="100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965960" y="205740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exploratoire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760720" y="2057400"/>
            <a:ext cx="5623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comparative des 3 tables COMPAS — structure, démographie, scores, biais préliminaires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916936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1C3049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22960" y="2916936"/>
            <a:ext cx="100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965960" y="3008376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60720" y="3008376"/>
            <a:ext cx="5623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Reconstruction de la cohorte, définition de la cible, sélection des features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867912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1C3049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22960" y="3867912"/>
            <a:ext cx="100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965960" y="395935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Modélisation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60720" y="3959352"/>
            <a:ext cx="5623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Choix du modèle, optimisation Optuna, comparaison directe à COMPAS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818888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1C3049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22960" y="4818888"/>
            <a:ext cx="100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965960" y="491032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SHAP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60720" y="4910328"/>
            <a:ext cx="5623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Explicabilité TreeSHAP — importance globale et décomposition locale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769864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1C3049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22960" y="5769864"/>
            <a:ext cx="100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965960" y="5861304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d'équité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60720" y="5861304"/>
            <a:ext cx="5623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Fairlearn — mesure et mitigation du biais, race et sexe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A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594360" y="1234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148840"/>
            <a:ext cx="8778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Analyse exploratoire comparative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3611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Confronter 3 sources de données COMPAS pour poser les bases factuelles de l'audit d'équité.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3 sources de données &amp; leur qualité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Complémentaires, non redondantes — volumétrie et anomalies détectées, table par table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555000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1C3049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822960" y="55500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Les 3 tables sont complémentaires (mécanique du score → réalité → contrôle), pas redondantes. Les valeurs manquantes de la table 2 ne sont pas aléatoires (absence d'événement, pas de hasard) — les doublons de la table 2 (id manquants) et de la table 3 (faible cardinalité) ont été identifiés et retirés avant l'analyse.</a:t>
            </a:r>
            <a:pPr indent="0" marL="0">
              <a:buNone/>
            </a:pPr>
            <a:r>
              <a:rPr lang="en-US" sz="1200" b="1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 trois tables sont complémentaires, pas redondantes : </a:t>
            </a:r>
            <a:pPr indent="0" marL="0">
              <a:buNone/>
            </a:pPr>
            <a:r>
              <a:rPr lang="en-US" sz="12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table 1 explique la mécanique du score, la table 2 confronte score et réalité, la table 3 sert de référence de contrôle.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B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SÉSAME, OUVRE-TOI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900" dirty="0"/>
          </a:p>
        </p:txBody>
      </p:sp>
      <p:sp>
        <p:nvSpPr>
          <p:cNvPr id="14" name="Rectangle 13"/>
          <p:cNvSpPr/>
          <p:nvPr/>
        </p:nvSpPr>
        <p:spPr>
          <a:xfrm>
            <a:off x="777240" y="2200000"/>
            <a:ext cx="2606040" cy="45720"/>
          </a:xfrm>
          <a:prstGeom prst="rect">
            <a:avLst/>
          </a:prstGeom>
          <a:solidFill>
            <a:srgbClr val="2D6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245720"/>
            <a:ext cx="2606040" cy="3154680"/>
          </a:xfrm>
          <a:prstGeom prst="rect">
            <a:avLst/>
          </a:prstGeom>
          <a:solidFill>
            <a:srgbClr val="1C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91440"/>
          <a:lstStyle/>
          <a:p>
            <a:pPr algn="ctr"/>
            <a:r>
              <a:rPr sz="1400" b="1">
                <a:solidFill>
                  <a:srgbClr val="2D6A9F"/>
                </a:solidFill>
                <a:latin typeface="Georgia"/>
              </a:rPr>
              <a:t>Table 1</a:t>
            </a:r>
          </a:p>
          <a:p>
            <a:r>
              <a:rPr sz="850">
                <a:solidFill>
                  <a:srgbClr val="8A94A3"/>
                </a:solidFill>
                <a:latin typeface="Consolas"/>
              </a:rPr>
              <a:t>compas-scores-raw.csv</a:t>
            </a:r>
          </a:p>
          <a:p>
            <a:pPr>
              <a:spcBef>
                <a:spcPts val="600"/>
              </a:spcBef>
            </a:pPr>
            <a:r>
              <a:rPr sz="1700" b="1">
                <a:solidFill>
                  <a:srgbClr val="F4F1EC"/>
                </a:solidFill>
                <a:latin typeface="Georgia"/>
              </a:rPr>
              <a:t>60 843 × 28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F4F1EC"/>
                </a:solidFill>
                <a:latin typeface="Arial"/>
              </a:rPr>
              <a:t>Scores bruts COMPAS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8A94A3"/>
                </a:solidFill>
                <a:latin typeface="Arial"/>
              </a:rPr>
              <a:t>Quasi complète (MiddleName 74%, non utilisé)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6160" y="2200000"/>
            <a:ext cx="2606040" cy="45720"/>
          </a:xfrm>
          <a:prstGeom prst="rect">
            <a:avLst/>
          </a:prstGeom>
          <a:solidFill>
            <a:srgbClr val="E84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66160" y="2245720"/>
            <a:ext cx="2606040" cy="3154680"/>
          </a:xfrm>
          <a:prstGeom prst="rect">
            <a:avLst/>
          </a:prstGeom>
          <a:solidFill>
            <a:srgbClr val="1C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91440"/>
          <a:lstStyle/>
          <a:p>
            <a:pPr algn="ctr"/>
            <a:r>
              <a:rPr sz="1400" b="1">
                <a:solidFill>
                  <a:srgbClr val="E84A5F"/>
                </a:solidFill>
                <a:latin typeface="Georgia"/>
              </a:rPr>
              <a:t>Table 2</a:t>
            </a:r>
          </a:p>
          <a:p>
            <a:r>
              <a:rPr sz="850">
                <a:solidFill>
                  <a:srgbClr val="8A94A3"/>
                </a:solidFill>
                <a:latin typeface="Consolas"/>
              </a:rPr>
              <a:t>cox-violent-parsed.csv</a:t>
            </a:r>
          </a:p>
          <a:p>
            <a:pPr>
              <a:spcBef>
                <a:spcPts val="600"/>
              </a:spcBef>
            </a:pPr>
            <a:r>
              <a:rPr sz="1700" b="1">
                <a:solidFill>
                  <a:srgbClr val="F4F1EC"/>
                </a:solidFill>
                <a:latin typeface="Georgia"/>
              </a:rPr>
              <a:t>18 316 × 52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F4F1EC"/>
                </a:solidFill>
                <a:latin typeface="Arial"/>
              </a:rPr>
              <a:t>Score ↔ récidive réelle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8A94A3"/>
                </a:solidFill>
                <a:latin typeface="Arial"/>
              </a:rPr>
              <a:t>2 803 doublons stricts (15%, id manquants)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2200000"/>
            <a:ext cx="2606040" cy="45720"/>
          </a:xfrm>
          <a:prstGeom prst="rect">
            <a:avLst/>
          </a:prstGeom>
          <a:solidFill>
            <a:srgbClr val="3AA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2245720"/>
            <a:ext cx="2606040" cy="3154680"/>
          </a:xfrm>
          <a:prstGeom prst="rect">
            <a:avLst/>
          </a:prstGeom>
          <a:solidFill>
            <a:srgbClr val="1C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91440"/>
          <a:lstStyle/>
          <a:p>
            <a:pPr algn="ctr"/>
            <a:r>
              <a:rPr sz="1400" b="1">
                <a:solidFill>
                  <a:srgbClr val="3AAFA9"/>
                </a:solidFill>
                <a:latin typeface="Georgia"/>
              </a:rPr>
              <a:t>Table 2 filt</a:t>
            </a:r>
          </a:p>
          <a:p>
            <a:r>
              <a:rPr sz="850">
                <a:solidFill>
                  <a:srgbClr val="8A94A3"/>
                </a:solidFill>
                <a:latin typeface="Consolas"/>
              </a:rPr>
              <a:t>…_filt.csv</a:t>
            </a:r>
          </a:p>
          <a:p>
            <a:pPr>
              <a:spcBef>
                <a:spcPts val="600"/>
              </a:spcBef>
            </a:pPr>
            <a:r>
              <a:rPr sz="1700" b="1">
                <a:solidFill>
                  <a:srgbClr val="F4F1EC"/>
                </a:solidFill>
                <a:latin typeface="Georgia"/>
              </a:rPr>
              <a:t>18 316 × 40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F4F1EC"/>
                </a:solidFill>
                <a:latin typeface="Arial"/>
              </a:rPr>
              <a:t>Table de travail principale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8A94A3"/>
                </a:solidFill>
                <a:latin typeface="Arial"/>
              </a:rPr>
              <a:t>12 colonnes admin. retirées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2200000"/>
            <a:ext cx="2606040" cy="45720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0" y="2245720"/>
            <a:ext cx="2606040" cy="3154680"/>
          </a:xfrm>
          <a:prstGeom prst="rect">
            <a:avLst/>
          </a:prstGeom>
          <a:solidFill>
            <a:srgbClr val="1C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91440"/>
          <a:lstStyle/>
          <a:p>
            <a:pPr algn="ctr"/>
            <a:r>
              <a:rPr sz="1400" b="1">
                <a:solidFill>
                  <a:srgbClr val="7B68EE"/>
                </a:solidFill>
                <a:latin typeface="Georgia"/>
              </a:rPr>
              <a:t>Table 3</a:t>
            </a:r>
          </a:p>
          <a:p>
            <a:r>
              <a:rPr sz="850">
                <a:solidFill>
                  <a:srgbClr val="8A94A3"/>
                </a:solidFill>
                <a:latin typeface="Consolas"/>
              </a:rPr>
              <a:t>propublica_fairml.csv</a:t>
            </a:r>
          </a:p>
          <a:p>
            <a:pPr>
              <a:spcBef>
                <a:spcPts val="600"/>
              </a:spcBef>
            </a:pPr>
            <a:r>
              <a:rPr sz="1700" b="1">
                <a:solidFill>
                  <a:srgbClr val="F4F1EC"/>
                </a:solidFill>
                <a:latin typeface="Georgia"/>
              </a:rPr>
              <a:t>6 172 × 12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F4F1EC"/>
                </a:solidFill>
                <a:latin typeface="Arial"/>
              </a:rPr>
              <a:t>Référence de contrôle (pas d'entraînement)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8A94A3"/>
                </a:solidFill>
                <a:latin typeface="Arial"/>
              </a:rPr>
              <a:t>5 017 doublons stricts (81%, one-hot)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Distributions démographiques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Cohérence vérifiée entre les 3 tables — sexe, âge, origine ethnique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38428" y="2176272"/>
            <a:ext cx="9912096" cy="3188560"/>
          </a:xfrm>
          <a:prstGeom prst="roundRect">
            <a:avLst>
              <a:gd name="adj" fmla="val 14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  <p:txBody>
          <a:bodyPr/>
          <a:p/>
        </p:txBody>
      </p:sp>
      <p:pic>
        <p:nvPicPr>
          <p:cNvPr id="6" name="Image 0" descr="/home/claude/nb_imgs/cell23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8156" y="2286000"/>
            <a:ext cx="9692640" cy="29691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5623560"/>
            <a:ext cx="2606040" cy="731520"/>
          </a:xfrm>
          <a:prstGeom prst="roundRect">
            <a:avLst>
              <a:gd name="adj" fmla="val 7500"/>
            </a:avLst>
          </a:prstGeom>
          <a:solidFill>
            <a:srgbClr val="1C3049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777240" y="571500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52%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14400" y="58978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Afro-Américains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(table 2)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566160" y="5623560"/>
            <a:ext cx="2606040" cy="731520"/>
          </a:xfrm>
          <a:prstGeom prst="roundRect">
            <a:avLst>
              <a:gd name="adj" fmla="val 7500"/>
            </a:avLst>
          </a:prstGeom>
          <a:solidFill>
            <a:srgbClr val="1C3049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3566160" y="571500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34%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3703320" y="58978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Caucasiens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(table 2)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355080" y="5623560"/>
            <a:ext cx="2606040" cy="731520"/>
          </a:xfrm>
          <a:prstGeom prst="roundRect">
            <a:avLst>
              <a:gd name="adj" fmla="val 7500"/>
            </a:avLst>
          </a:prstGeom>
          <a:solidFill>
            <a:srgbClr val="1C3049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355080" y="571500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81%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492240" y="58978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Hommes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144000" y="5623560"/>
            <a:ext cx="2606040" cy="731520"/>
          </a:xfrm>
          <a:prstGeom prst="roundRect">
            <a:avLst>
              <a:gd name="adj" fmla="val 7500"/>
            </a:avLst>
          </a:prstGeom>
          <a:solidFill>
            <a:srgbClr val="1C3049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9144000" y="571500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 ans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9281160" y="58978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Âge médian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B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SÉSAME, OUVRE-TOI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Distribution des scores de risque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motif Borden/Prater reproduit à l'échelle du dataset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44852" y="2176272"/>
            <a:ext cx="7699248" cy="2881020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  <p:txBody>
          <a:bodyPr/>
          <a:p/>
        </p:txBody>
      </p:sp>
      <p:pic>
        <p:nvPicPr>
          <p:cNvPr id="6" name="Image 0" descr="/home/claude/nb_imgs/cell30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4580" y="2286000"/>
            <a:ext cx="7479792" cy="26615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6235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quasi uniforme (voire croissant) pour les Afro-Américains, décroissant pour les Caucasiens — signal identique sur le score violent (v_decile_score) : 4,63 vs 3,08 en moyenne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B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SÉSAME, OUVRE-TOI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 prédit vs. récidive réelle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score prédit-il correctement, et de la même façon pour tous les groupes 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46681" y="2176272"/>
            <a:ext cx="7695590" cy="3191365"/>
          </a:xfrm>
          <a:prstGeom prst="roundRect">
            <a:avLst>
              <a:gd name="adj" fmla="val 14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  <p:txBody>
          <a:bodyPr/>
          <a:p/>
        </p:txBody>
      </p:sp>
      <p:pic>
        <p:nvPicPr>
          <p:cNvPr id="6" name="Image 0" descr="/home/claude/nb_imgs_v2/cell38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6409" y="2286000"/>
            <a:ext cx="7476134" cy="297190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6235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Écart de calibration/erreur entre groupes — signal à l'origine du théorème d'impossibilité de Chouldechova (2017) : impossible d'avoir simultanément calibration égale ET taux d'erreur égaux entre groupes si la prévalence de base diffère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B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SÉSAME, OUVRE-TOI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Calibration du score par groupe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décile égal, le taux de récidive réelle est-il le même quel que soit le groupe 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547872" y="2084832"/>
            <a:ext cx="5120640" cy="3188971"/>
          </a:xfrm>
          <a:prstGeom prst="roundRect">
            <a:avLst>
              <a:gd name="adj" fmla="val 14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  <p:txBody>
          <a:bodyPr/>
          <a:p/>
        </p:txBody>
      </p:sp>
      <p:pic>
        <p:nvPicPr>
          <p:cNvPr id="6" name="Image 0" descr="/home/claude/nb_imgs_v2/cell41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2194560"/>
            <a:ext cx="4901184" cy="296951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6235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raisonnablement bien calibré entre groupes (décile 1 : 22% pour les deux ; décile 7 : 57% vs 58%) — le déséquilibre de FPR/FNR ne vient donc pas d'une mauvaise calibration, mais bien du théorème de Chouldechova : à calibration égale, des taux de base différents produisent mécaniquement des erreurs différentes sous un seuil commun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B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SÉSAME, OUVRE-TOI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 « haut risque » &amp; erreurs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Seuil binaire (score ≥ 7) — taux d'erreur par groupe, et synthèse chiffrée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56232" y="2176272"/>
            <a:ext cx="8476488" cy="2960470"/>
          </a:xfrm>
          <a:prstGeom prst="roundRect">
            <a:avLst>
              <a:gd name="adj" fmla="val 15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  <p:txBody>
          <a:bodyPr/>
          <a:p/>
        </p:txBody>
      </p:sp>
      <p:pic>
        <p:nvPicPr>
          <p:cNvPr id="6" name="Image 0" descr="/home/claude/nb_imgs_v2/cell44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960" y="2286000"/>
            <a:ext cx="8257032" cy="274101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5623560"/>
            <a:ext cx="2606040" cy="731520"/>
          </a:xfrm>
          <a:prstGeom prst="roundRect">
            <a:avLst>
              <a:gd name="adj" fmla="val 7500"/>
            </a:avLst>
          </a:prstGeom>
          <a:solidFill>
            <a:srgbClr val="1C3049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777240" y="571500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2,19×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14400" y="58978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Taux « haut risque »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 vs Caucasien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566160" y="5623560"/>
            <a:ext cx="2606040" cy="731520"/>
          </a:xfrm>
          <a:prstGeom prst="roundRect">
            <a:avLst>
              <a:gd name="adj" fmla="val 7500"/>
            </a:avLst>
          </a:prstGeom>
          <a:solidFill>
            <a:srgbClr val="1C3049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3566160" y="571500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2,48×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3703320" y="58978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 FPR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 vs Caucasien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355080" y="5623560"/>
            <a:ext cx="2606040" cy="731520"/>
          </a:xfrm>
          <a:prstGeom prst="roundRect">
            <a:avLst>
              <a:gd name="adj" fmla="val 7500"/>
            </a:avLst>
          </a:prstGeom>
          <a:solidFill>
            <a:srgbClr val="1C3049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355080" y="571500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0,66×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492240" y="58978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 FNR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 vs Caucasien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144000" y="5623560"/>
            <a:ext cx="2606040" cy="731520"/>
          </a:xfrm>
          <a:prstGeom prst="roundRect">
            <a:avLst>
              <a:gd name="adj" fmla="val 7500"/>
            </a:avLst>
          </a:prstGeom>
          <a:solidFill>
            <a:srgbClr val="1C3049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9144000" y="571500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0,93×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9281160" y="58978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 Accuracy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 vs Caucasien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B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SÉSAME, OUVRE-TOI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priors_count : un facteur confondant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variable la plus corrélée au score — et un vecteur possible de biais historique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56232" y="2176272"/>
            <a:ext cx="8476488" cy="2959015"/>
          </a:xfrm>
          <a:prstGeom prst="roundRect">
            <a:avLst>
              <a:gd name="adj" fmla="val 1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  <p:txBody>
          <a:bodyPr/>
          <a:p/>
        </p:txBody>
      </p:sp>
      <p:pic>
        <p:nvPicPr>
          <p:cNvPr id="6" name="Image 0" descr="/home/claude/nb_imgs_v2/cell50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960" y="2286000"/>
            <a:ext cx="8257032" cy="27395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6235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 quasi monotone antécédents ↔ score (attendu, c'est un input de COMPAS) — mais médiane d'antécédents plus élevée chez les Afro-Américains : variable prédictive légitime ET vecteur ambigu, à documenter explicitement en Partie 4 (SHAP)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B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SÉSAME, OUVRE-TOI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Matrice de corrélation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3 — quelles variables sont proxies de l'attribut sensible 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67512" y="2039112"/>
            <a:ext cx="4379976" cy="3849927"/>
          </a:xfrm>
          <a:prstGeom prst="roundRect">
            <a:avLst>
              <a:gd name="adj" fmla="val 11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  <p:txBody>
          <a:bodyPr/>
          <a:p/>
        </p:txBody>
      </p:sp>
      <p:pic>
        <p:nvPicPr>
          <p:cNvPr id="6" name="Image 0" descr="/home/claude/nb_imgs_v2/cell53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48840"/>
            <a:ext cx="4160520" cy="363047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2331720"/>
            <a:ext cx="61264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score_factor corrélé d'abord à Number_of_Priors (r = 0,38), puis à Two_yr_Recidivism (r = 0,31)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African_American reste corrélé au score (r = 0,27) indépendamment du nombre d'antécédents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corrélation seule ne permet pas de décomposer cet effet propre → nécessité de SHAP en Partie 4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B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SÉSAME, OUVRE-TOI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d'équité par sexe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sexe est, comme la race, un attribut protégé — même audit, Femmes vs Hommes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409444" y="2084832"/>
            <a:ext cx="7370064" cy="3191570"/>
          </a:xfrm>
          <a:prstGeom prst="roundRect">
            <a:avLst>
              <a:gd name="adj" fmla="val 14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  <p:txBody>
          <a:bodyPr/>
          <a:p/>
        </p:txBody>
      </p:sp>
      <p:pic>
        <p:nvPicPr>
          <p:cNvPr id="6" name="Image 0" descr="/home/claude/nb_imgs_v2/cell59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9172" y="2194560"/>
            <a:ext cx="7150608" cy="297211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5623560"/>
            <a:ext cx="3429000" cy="731520"/>
          </a:xfrm>
          <a:prstGeom prst="roundRect">
            <a:avLst>
              <a:gd name="adj" fmla="val 7500"/>
            </a:avLst>
          </a:prstGeom>
          <a:solidFill>
            <a:srgbClr val="1C3049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777240" y="57150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0,71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14400" y="58978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Disparate Impact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(Femme / Homme)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434840" y="5623560"/>
            <a:ext cx="3429000" cy="731520"/>
          </a:xfrm>
          <a:prstGeom prst="roundRect">
            <a:avLst>
              <a:gd name="adj" fmla="val 7500"/>
            </a:avLst>
          </a:prstGeom>
          <a:solidFill>
            <a:srgbClr val="1C3049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434840" y="57150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0,10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572000" y="58978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Equalized Odds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Difference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092440" y="5623560"/>
            <a:ext cx="3429000" cy="731520"/>
          </a:xfrm>
          <a:prstGeom prst="roundRect">
            <a:avLst>
              <a:gd name="adj" fmla="val 7500"/>
            </a:avLst>
          </a:prstGeom>
          <a:solidFill>
            <a:srgbClr val="1C3049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8092440" y="57150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1,40×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229600" y="58978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Taux « haut risque »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Homme vs Femme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B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SÉSAME, OUVRE-TOI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A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594360" y="1234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14884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Reconstruire une cohorte propre et une cible claire, avec des features justifiées une à une — avant tout entraînement.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Reconstruction de la cohorte &amp; de la cible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 — mêmes critères qualité que la Partie 1, appliqués à la modélisation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21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A9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Étape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A9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Résultat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4F1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Cohorte finale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A94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18 316 → 8 899 individus (filtres qualité justifiés, cf. Partie 1)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4F1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Représentativité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A94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Écarts &lt; 1 point par groupe ethnique avant/après filtrage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4F1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Cible (two_year_recid)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A94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Quasi équilibrée : 51,4 % / 48,6 % (ratio 1,06) → pas de sur/sous-échantillonnage nécessaire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4F1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Features retenues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A94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 = {age, is_male, priors_count, juv_total, is_felony} — 5 variables numériques/binaires, sans decile_score (fuite de cible circulaire) ; comparé à X_avec_race pour objectiver l'effet de race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4F1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race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A94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Exclue de X (fairness through unawareness) — teste si retirer l'attribut sensible suffit à supprimer le biais. Hypothèse (Partie 1) : priors_count proxy de race (r=0,27) → confirmée en Partie 5 (DI=1,55 même sans race dans X)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4F1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Split train/test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A94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7 119 / 1 780, stratifié conjointement sur la cible ET sur race_agg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B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SÉSAME, OUVRE-TOI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900" dirty="0"/>
          </a:p>
        </p:txBody>
      </p:sp>
      <p:sp>
        <p:nvSpPr>
          <p:cNvPr id="18" name="Rectangle 17"/>
          <p:cNvSpPr/>
          <p:nvPr/>
        </p:nvSpPr>
        <p:spPr>
          <a:xfrm>
            <a:off x="540272" y="3240272"/>
            <a:ext cx="5471456" cy="28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ohort_fun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00" y="3350000"/>
            <a:ext cx="5252000" cy="26000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192272" y="3240272"/>
            <a:ext cx="3485056" cy="28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target_bal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2000" y="3350000"/>
            <a:ext cx="3265600" cy="2600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A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594360" y="1234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14884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Modélisation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Choisir, entraîner et optimiser un modèle indépendant de COMPAS — puis le comparer directement à lui.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Choix du modèle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Comparaison en validation croisée (5 plis) — la performance seule ne suffit pas à trancher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67512" y="2176272"/>
            <a:ext cx="3941064" cy="2323010"/>
          </a:xfrm>
          <a:prstGeom prst="roundRect">
            <a:avLst>
              <a:gd name="adj" fmla="val 19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  <p:txBody>
          <a:bodyPr/>
          <a:p/>
        </p:txBody>
      </p:sp>
      <p:pic>
        <p:nvPicPr>
          <p:cNvPr id="6" name="Image 0" descr="/home/claude/nb_imgs_v3/cell26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286000"/>
            <a:ext cx="3721608" cy="210355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892040" y="2286000"/>
            <a:ext cx="6309360" cy="658368"/>
          </a:xfrm>
          <a:prstGeom prst="roundRect">
            <a:avLst>
              <a:gd name="adj" fmla="val 8333"/>
            </a:avLst>
          </a:prstGeom>
          <a:solidFill>
            <a:srgbClr val="1C3049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4892040" y="2377440"/>
            <a:ext cx="6309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0,714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029200" y="2487168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Régression Logistique (ROC-AUC CV)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892040" y="3081528"/>
            <a:ext cx="6309360" cy="658368"/>
          </a:xfrm>
          <a:prstGeom prst="roundRect">
            <a:avLst>
              <a:gd name="adj" fmla="val 8333"/>
            </a:avLst>
          </a:prstGeom>
          <a:solidFill>
            <a:srgbClr val="1C3049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892040" y="3172968"/>
            <a:ext cx="6309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0,791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029200" y="3282696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(ROC-AUC CV) — meilleur score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892040" y="3877056"/>
            <a:ext cx="6309360" cy="658368"/>
          </a:xfrm>
          <a:prstGeom prst="roundRect">
            <a:avLst>
              <a:gd name="adj" fmla="val 8333"/>
            </a:avLst>
          </a:prstGeom>
          <a:solidFill>
            <a:srgbClr val="1C3049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4892040" y="3968496"/>
            <a:ext cx="6309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0,764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029200" y="4078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(ROC-AUC CV) — retenu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77240" y="4800600"/>
            <a:ext cx="10607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devance XGBoost, mais l'écart (0,027) est inférieur à la somme des écarts-types — non significatif sur 5 plis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retenu pour sa régularisation plus riche (L1/L2, learning_rate), qui donne un vrai potentiel d'optimisation, pas pour un gain déjà acquis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feature_importances_ (ci-contre) illustre les limites pédagogiques de cette méthode : ni signe, ni explication locale, ni axiome d'efficacité — d'où SHAP en Partie 4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B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SÉSAME, OUVRE-TOI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Optimisation des hyperparamètres — Optuna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 bayésienne (TPE) sur 9 hyperparamètres continus — pourquoi pas Grid/Random Search ?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114800"/>
                <a:gridCol w="4572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A9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Méthode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A9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Coût de calcul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A9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Adéquation ici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4F1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Grid Search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A94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Explose (9 dimensions continues)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A94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3⁹ ≈ 19 683 combinaisons — infaisable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4F1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Search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A94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Linéaire, mais aveugle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A94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Gaspille des essais sur des zones déjà mauvaises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4F1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Optuna (TPE)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A94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Linéaire, guidé par les essais précédents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A9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Meilleur ratio qualité/budget — retenu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67512" y="3547872"/>
            <a:ext cx="5157216" cy="1986665"/>
          </a:xfrm>
          <a:prstGeom prst="roundRect">
            <a:avLst>
              <a:gd name="adj" fmla="val 23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  <p:txBody>
          <a:bodyPr/>
          <a:p/>
        </p:txBody>
      </p:sp>
      <p:pic>
        <p:nvPicPr>
          <p:cNvPr id="7" name="Image 0" descr="/home/claude/nb_imgs_v3/optuna_hi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657600"/>
            <a:ext cx="4937760" cy="1767209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080760" y="3657600"/>
            <a:ext cx="5349240" cy="777240"/>
          </a:xfrm>
          <a:prstGeom prst="roundRect">
            <a:avLst>
              <a:gd name="adj" fmla="val 7059"/>
            </a:avLst>
          </a:prstGeom>
          <a:solidFill>
            <a:srgbClr val="1C3049"/>
          </a:solidFill>
          <a:ln/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6080760" y="374904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6217920" y="397764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Essais Optuna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(TPE sampler)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6080760" y="4572000"/>
            <a:ext cx="5349240" cy="777240"/>
          </a:xfrm>
          <a:prstGeom prst="roundRect">
            <a:avLst>
              <a:gd name="adj" fmla="val 7059"/>
            </a:avLst>
          </a:prstGeom>
          <a:solidFill>
            <a:srgbClr val="1C3049"/>
          </a:solidFill>
          <a:ln/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6080760" y="466344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0,764 → 0,756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217920" y="489204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 CV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défaut → meilleur essai Optuna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777240" y="580644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 des 50 essais ne franchit la ligne des hyperparamètres par défaut → résultat documenté honnêtement, pas masqué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B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SÉSAME, OUVRE-TOI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E8A94D"/>
                </a:solidFill>
                <a:latin typeface="Georgia"/>
              </a:rPr>
              <a:t>3.3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515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4F1EC"/>
                </a:solidFill>
                <a:latin typeface="Georgia"/>
              </a:rPr>
              <a:t>Métriques d'évaluation — pourquoi pas seulement l'Accuracy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0789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>
                <a:solidFill>
                  <a:srgbClr val="8A94A3"/>
                </a:solidFill>
                <a:latin typeface="Arial"/>
              </a:rPr>
              <a:t>Chaque métrique reflète un enjeu différent — et prépare l'audit d'équité (Partie 5)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148840"/>
          <a:ext cx="11064240" cy="3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114800"/>
                <a:gridCol w="4572000"/>
              </a:tblGrid>
              <a:tr h="640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E8A94D"/>
                          </a:solidFill>
                          <a:latin typeface="Arial"/>
                        </a:rPr>
                        <a:t>Métrique</a:t>
                      </a:r>
                    </a:p>
                  </a:txBody>
                  <a:tcPr marL="91440" marR="91440" marT="45720" marB="45720" anchor="ctr">
                    <a:solidFill>
                      <a:srgbClr val="1C30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E8A94D"/>
                          </a:solidFill>
                          <a:latin typeface="Arial"/>
                        </a:rPr>
                        <a:t>Ce qu'elle mesure</a:t>
                      </a:r>
                    </a:p>
                  </a:txBody>
                  <a:tcPr marL="91440" marR="91440" marT="45720" marB="45720" anchor="ctr">
                    <a:solidFill>
                      <a:srgbClr val="1C30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E8A94D"/>
                          </a:solidFill>
                          <a:latin typeface="Arial"/>
                        </a:rPr>
                        <a:t>Pourquoi elle compte ici</a:t>
                      </a:r>
                    </a:p>
                  </a:txBody>
                  <a:tcPr marL="91440" marR="91440" marT="45720" marB="45720" anchor="ctr">
                    <a:solidFill>
                      <a:srgbClr val="1C3049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4F1EC"/>
                          </a:solidFill>
                          <a:latin typeface="Arial"/>
                        </a:rPr>
                        <a:t>Recall (classe 1)</a:t>
                      </a:r>
                    </a:p>
                  </a:txBody>
                  <a:tcPr marL="91440" marR="91440" marT="45720" marB="45720" anchor="ctr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8A94A3"/>
                          </a:solidFill>
                          <a:latin typeface="Arial"/>
                        </a:rPr>
                        <a:t>% de récidivistes réels bien détectés</a:t>
                      </a:r>
                    </a:p>
                  </a:txBody>
                  <a:tcPr marL="91440" marR="91440" marT="45720" marB="45720" anchor="ctr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8A94A3"/>
                          </a:solidFill>
                          <a:latin typeface="Arial"/>
                        </a:rPr>
                        <a:t>Un faux négatif (risque non anticipé) a un coût social différent d'un faux positif</a:t>
                      </a:r>
                    </a:p>
                  </a:txBody>
                  <a:tcPr marL="91440" marR="91440" marT="45720" marB="45720" anchor="ctr">
                    <a:solidFill>
                      <a:srgbClr val="0F1B2D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4F1EC"/>
                          </a:solidFill>
                          <a:latin typeface="Arial"/>
                        </a:rPr>
                        <a:t>Precision (classe 1)</a:t>
                      </a:r>
                    </a:p>
                  </a:txBody>
                  <a:tcPr marL="91440" marR="91440" marT="45720" marB="45720" anchor="ctr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8A94A3"/>
                          </a:solidFill>
                          <a:latin typeface="Arial"/>
                        </a:rPr>
                        <a:t>% de prédictions « récidive » correctes</a:t>
                      </a:r>
                    </a:p>
                  </a:txBody>
                  <a:tcPr marL="91440" marR="91440" marT="45720" marB="45720" anchor="ctr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8A94A3"/>
                          </a:solidFill>
                          <a:latin typeface="Arial"/>
                        </a:rPr>
                        <a:t>Équilibre le Recall — évite de classer tout le monde à risque par défaut</a:t>
                      </a:r>
                    </a:p>
                  </a:txBody>
                  <a:tcPr marL="91440" marR="91440" marT="45720" marB="45720" anchor="ctr">
                    <a:solidFill>
                      <a:srgbClr val="0F1B2D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4F1EC"/>
                          </a:solidFill>
                          <a:latin typeface="Arial"/>
                        </a:rPr>
                        <a:t>Accuracy</a:t>
                      </a:r>
                    </a:p>
                  </a:txBody>
                  <a:tcPr marL="91440" marR="91440" marT="45720" marB="45720" anchor="ctr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8A94A3"/>
                          </a:solidFill>
                          <a:latin typeface="Arial"/>
                        </a:rPr>
                        <a:t>% de prédictions correctes, toutes classes confondues</a:t>
                      </a:r>
                    </a:p>
                  </a:txBody>
                  <a:tcPr marL="91440" marR="91440" marT="45720" marB="45720" anchor="ctr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8A94A3"/>
                          </a:solidFill>
                          <a:latin typeface="Arial"/>
                        </a:rPr>
                        <a:t>Trompeuse seule si la cible est déséquilibrée — insuffisante pour juger l'équité par groupe</a:t>
                      </a:r>
                    </a:p>
                  </a:txBody>
                  <a:tcPr marL="91440" marR="91440" marT="45720" marB="45720" anchor="ctr">
                    <a:solidFill>
                      <a:srgbClr val="0F1B2D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4F1EC"/>
                          </a:solidFill>
                          <a:latin typeface="Arial"/>
                        </a:rPr>
                        <a:t>ROC-AUC</a:t>
                      </a:r>
                    </a:p>
                  </a:txBody>
                  <a:tcPr marL="91440" marR="91440" marT="45720" marB="45720" anchor="ctr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8A94A3"/>
                          </a:solidFill>
                          <a:latin typeface="Arial"/>
                        </a:rPr>
                        <a:t>Qualité du classement, indépendante du seuil de décision</a:t>
                      </a:r>
                    </a:p>
                  </a:txBody>
                  <a:tcPr marL="91440" marR="91440" marT="45720" marB="45720" anchor="ctr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8A94A3"/>
                          </a:solidFill>
                          <a:latin typeface="Arial"/>
                        </a:rPr>
                        <a:t>Réutilisée en Partie 5 : le ThresholdOptimizer choisit un seuil différent par groupe</a:t>
                      </a:r>
                    </a:p>
                  </a:txBody>
                  <a:tcPr marL="91440" marR="91440" marT="45720" marB="45720" anchor="ctr">
                    <a:solidFill>
                      <a:srgbClr val="0F1B2D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555000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>
                <a:solidFill>
                  <a:srgbClr val="F4F1EC"/>
                </a:solidFill>
                <a:latin typeface="Arial"/>
              </a:rPr>
              <a:t>Un faux négatif (individu réellement à risque jugé « pas de récidive ») et un faux positif (injustement classé « récidive ») n'ont pas le même coût social — l'accuracy globale masquerait ce déséquilibre. Ces mêmes métriques (FPR, FNR par groupe) structurent l'audit d'équité des Parties 1 et 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>
                <a:solidFill>
                  <a:srgbClr val="8A94A3"/>
                </a:solidFill>
                <a:latin typeface="Arial"/>
              </a:rPr>
              <a:t>SÉSAME, OUVRE-TOI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>
                <a:solidFill>
                  <a:srgbClr val="8A94A3"/>
                </a:solidFill>
                <a:latin typeface="Georgia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Modèle retenu &amp; comparaison à COMPAS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Hyperparamètres par défaut conservés — performance sur le test set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67512" y="2176272"/>
            <a:ext cx="6803136" cy="2753883"/>
          </a:xfrm>
          <a:prstGeom prst="roundRect">
            <a:avLst>
              <a:gd name="adj" fmla="val 16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  <p:txBody>
          <a:bodyPr/>
          <a:p/>
        </p:txBody>
      </p:sp>
      <p:pic>
        <p:nvPicPr>
          <p:cNvPr id="6" name="Image 0" descr="/home/claude/nb_imgs_v3/cell29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286000"/>
            <a:ext cx="6583680" cy="253442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35240" y="2377440"/>
            <a:ext cx="3566160" cy="1051560"/>
          </a:xfrm>
          <a:prstGeom prst="roundRect">
            <a:avLst>
              <a:gd name="adj" fmla="val 5217"/>
            </a:avLst>
          </a:prstGeom>
          <a:solidFill>
            <a:srgbClr val="1C3049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7635240" y="24688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0,777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772400" y="2971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 (test)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7635240" y="3611880"/>
            <a:ext cx="3566160" cy="1051560"/>
          </a:xfrm>
          <a:prstGeom prst="roundRect">
            <a:avLst>
              <a:gd name="adj" fmla="val 5217"/>
            </a:avLst>
          </a:prstGeom>
          <a:solidFill>
            <a:srgbClr val="1C3049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635240" y="37033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0,72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772400" y="42062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(test)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77240" y="516636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COMPAS sur le même test set : Accuracy +0,11 · Precision +0,08 · Recall +0,26 · F1 +0,19 — notre modèle (5 features, sans le score COMPAS) domine sur toutes les métriques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B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SÉSAME, OUVRE-TOI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A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594360" y="1234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14884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Analyse SHAP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Ouvrir la boîte noire : comprendre globalement et individuellement ce qui motive chaque prédiction.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Explicabilité — pourquoi SHAP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TreeSHAP : les seules valeurs de Shapley calculées exactement pour un modèle à base d'arbres</a:t>
            </a:r>
            <a:endParaRPr lang="en-US" sz="1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59436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143000"/>
                <a:gridCol w="1143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A9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Axiome de Shapley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A9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feat_import.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A9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4F1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Efficacité (somme = écart à la moyenne)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4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A9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4F1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Signe (augmente/diminue le risque)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4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A9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4F1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Explication locale (par individu)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4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A9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4F1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Consistance entre modèles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4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A9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793992" y="2176272"/>
            <a:ext cx="4928616" cy="2334507"/>
          </a:xfrm>
          <a:prstGeom prst="roundRect">
            <a:avLst>
              <a:gd name="adj" fmla="val 19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  <p:txBody>
          <a:bodyPr/>
          <a:p/>
        </p:txBody>
      </p:sp>
      <p:pic>
        <p:nvPicPr>
          <p:cNvPr id="7" name="Image 0" descr="/home/claude/nb_imgs_v3/cell39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2286000"/>
            <a:ext cx="4709160" cy="211505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53949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priors_count domine très largement l'importance globale — cohérent avec sa corrélation à race identifiée en Partie 1 : proxy potentiel de l'attribut sensible malgré son exclusion du modèle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B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SÉSAME, OUVRE-TOI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 — décomposition locale &amp; LIME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Expliquer une prédiction individuelle, pas seulement une tendance globale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67512" y="2176272"/>
            <a:ext cx="6025896" cy="3064216"/>
          </a:xfrm>
          <a:prstGeom prst="roundRect">
            <a:avLst>
              <a:gd name="adj" fmla="val 14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  <p:txBody>
          <a:bodyPr/>
          <a:p/>
        </p:txBody>
      </p:sp>
      <p:pic>
        <p:nvPicPr>
          <p:cNvPr id="6" name="Image 0" descr="/home/claude/nb_imgs_v3/cell41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286000"/>
            <a:ext cx="5806440" cy="2844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95160" y="2377440"/>
            <a:ext cx="4480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priors_count : +5,64 — le facteur qui pousse le plus cette prédiction au-dessus de la moyenne du modèle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LIME retrouve le même facteur dominant sur ce même individu — signal de cohérence entre les deux méthodes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reste la référence retenue pour l'audit d'équité (Partie 5) : stabilité + garanties axiomatiques que LIME n'offre pas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7240" y="54864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Cette décomposition individuelle confirme, au niveau d'un cas précis, la tendance globale déjà observée (slide précédente) — pas seulement une moyenne, mais un mécanisme vérifié personne par personne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B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SÉSAME, OUVRE-TOI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E8A94D"/>
                </a:solidFill>
                <a:latin typeface="Georgia"/>
              </a:rPr>
              <a:t>4.3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515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4F1EC"/>
                </a:solidFill>
                <a:latin typeface="Georgia"/>
              </a:rPr>
              <a:t>LIME &amp; SAGE — deux validations croisées indépendantes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0789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>
                <a:solidFill>
                  <a:srgbClr val="8A94A3"/>
                </a:solidFill>
                <a:latin typeface="Arial"/>
              </a:rPr>
              <a:t>Deux méthodes différentes de TreeSHAP retrouvent le même facteur dominant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272" y="2340272"/>
            <a:ext cx="5778756" cy="29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ime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00" y="2450000"/>
            <a:ext cx="5559300" cy="270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99572" y="2340272"/>
            <a:ext cx="4990356" cy="29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age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9300" y="2450000"/>
            <a:ext cx="4770900" cy="270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48640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>
                <a:solidFill>
                  <a:srgbClr val="F4F1EC"/>
                </a:solidFill>
                <a:latin typeface="Arial"/>
              </a:rPr>
              <a:t>LIME (surrogate local, model-agnostic) et SAGE (permutation, perte de log-loss) confirment priors_count comme facteur dominant — cohérent avec TreeSHAP (4.1-4.2) et sa corrélation à race identifiée en Partie 1. Trois méthodes indépendantes, un seul verdict : le risque de proxy reste le point de vigilance central de l'audit d'équité (Partie 5).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>
                <a:solidFill>
                  <a:srgbClr val="5B6579"/>
                </a:solidFill>
                <a:latin typeface="Arial"/>
              </a:rPr>
              <a:t>SÉSAME, OUVRE-TOI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>
                <a:solidFill>
                  <a:srgbClr val="5B6579"/>
                </a:solidFill>
                <a:latin typeface="Georgia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A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594360" y="1234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14884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d'équité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Mesurer, puis réduire, les biais du modèle — sur la race, et sur le sexe.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d'équité — race — &amp; mitigation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Reweighing (pré-traitement) puis ThresholdOptimizer (post-traitement)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0" y="2176272"/>
            <a:ext cx="7616952" cy="2961605"/>
          </a:xfrm>
          <a:prstGeom prst="roundRect">
            <a:avLst>
              <a:gd name="adj" fmla="val 15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  <p:txBody>
          <a:bodyPr/>
          <a:p/>
        </p:txBody>
      </p:sp>
      <p:pic>
        <p:nvPicPr>
          <p:cNvPr id="6" name="Image 0" descr="/home/claude/nb_imgs_v3/cell55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5728" y="2286000"/>
            <a:ext cx="7397496" cy="274214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5440680"/>
            <a:ext cx="5212080" cy="777240"/>
          </a:xfrm>
          <a:prstGeom prst="roundRect">
            <a:avLst>
              <a:gd name="adj" fmla="val 7059"/>
            </a:avLst>
          </a:prstGeom>
          <a:solidFill>
            <a:srgbClr val="1C3049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777240" y="55321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2,30 → 1,00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14400" y="57607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Disparate Impact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COMPAS → modèle mitigé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217920" y="5440680"/>
            <a:ext cx="5212080" cy="777240"/>
          </a:xfrm>
          <a:prstGeom prst="roundRect">
            <a:avLst>
              <a:gd name="adj" fmla="val 7059"/>
            </a:avLst>
          </a:prstGeom>
          <a:solidFill>
            <a:srgbClr val="1C3049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217920" y="55321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0,286 → 0,080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355080" y="57607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Equalized Odds Diff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COMPAS → modèle mitigé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B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SÉSAME, OUVRE-TOI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d'équité — sexe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mitigations ci-dessus sont calibrées sur race — que se passe-t-il sur sex ?</a:t>
            </a:r>
            <a:endParaRPr lang="en-US" sz="14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560320"/>
                <a:gridCol w="5394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A9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Métrique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A9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A9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Notre modèle (non corrigé pour le sexe)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4F1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Disparate Impact (F/H)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A94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0,654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4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0,314  ⚠️ plus loin de 1 que COMPAS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4F1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Equalized Odds Diff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A94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0,193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4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0,350  ⚠️ quasi 2× celui de COMPAS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4F1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FPR Hommes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A94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0,237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A94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0,319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4F1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FNR Femmes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A94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0,735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A94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0,618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t>Sans is_male (unawareness, 2.6ter)</a:t>
                      </a: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0,624  ✅ proche de COMPAS (0,654)</a:t>
                      </a: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t>Sans is_male — Equalized Odds Diff</a:t>
                      </a: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0,254  (vs 0,350 avec is_male)</a:t>
                      </a: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39496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1C3049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822960" y="5394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Constat clé : </a:t>
            </a:r>
            <a:pPr indent="0" marL="0">
              <a:buNone/>
            </a:pPr>
            <a:r>
              <a:rPr lang="en-US" sz="12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corriger un axe de biais (race) ne corrige pas les autres (sexe) — notre modèle est ici plus déséquilibré que COMPAS sur le sexe. Contrairement à la race, l'exclusion simple de is_male (fairness through unawareness) fonctionne ici : Disparate Impact 0,314 → 0,624, Equalized Odds Diff 0,350 → 0,254, pour ~2 points d'Accuracy en moins — une mitigation dédiée (Reweighing/ThresholdOptimizer sur sex) reste la piste pour aller plus loin.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B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SÉSAME, OUVRE-TOI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2026-07-14T13:20:13Z</dcterms:created>
  <dcterms:modified xsi:type="dcterms:W3CDTF">2026-07-14T13:20:13Z</dcterms:modified>
</cp:coreProperties>
</file>