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Sésame, ouvre-toi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A0D8D8"/>
                </a:solidFill>
              </a:rPr>
              <a:t>Partie 1 — Récupération des données &amp;
Analyse Exploratoire Comparative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DDEE"/>
                </a:solidFill>
              </a:rPr>
              <a:t>Audit de biais algorithmique sur le système COMPAS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937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99AA"/>
                </a:solidFill>
              </a:rPr>
              <a:t>Kahina Abbad  •  La Plateforme  •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Contexte &amp; Objectifs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B8B"/>
                </a:solidFill>
              </a:rPr>
              <a:t>Qu'est-ce que COMPAS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1A1A2E"/>
                </a:solidFill>
              </a:rPr>
              <a:t>▸ Outil d'évaluation du risque de récidive utilisé aux États-Unis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A1A2E"/>
                </a:solidFill>
              </a:rPr>
              <a:t>▸ Affaire Borden / Prater (ProPublica, 2016)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  – Des Afro-Américains classés « à risque élevé » à tort 2× plus souvent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A1A2E"/>
                </a:solidFill>
              </a:rPr>
              <a:t>▸ Dataset : ~10 000 prévenus en Floride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  – 3 tables : scores bruts, données judiciaires, dataset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B8B"/>
                </a:solidFill>
              </a:rPr>
              <a:t>Objectifs de cette partie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1A1A2E"/>
                </a:solidFill>
              </a:rPr>
              <a:t>▸ Charger &amp; décrire les 3 tables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A1A2E"/>
                </a:solidFill>
              </a:rPr>
              <a:t>▸ Vérifier la qualité des données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  – Valeurs manquantes, doublons, typage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A1A2E"/>
                </a:solidFill>
              </a:rPr>
              <a:t>▸ Analyse exploratoire comparative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  – Démographie, scores, récidive réelle, antécédents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A1A2E"/>
                </a:solidFill>
              </a:rPr>
              <a:t>▸ Identifier les premiers signaux de biais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Les 3 Sources de Données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3749039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3749039" cy="502920"/>
          </a:xfrm>
          <a:prstGeom prst="rect">
            <a:avLst/>
          </a:prstGeom>
          <a:solidFill>
            <a:srgbClr val="12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07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Table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compas-scores-raw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74519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▸  Format long : 3 lignes / prévenu (3 échelles)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4144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▸  60 871 lignes × 28 colonnes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08376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▸  Focus : échelle « Risk of Recidivism 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7530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▸  Source directe du logiciel COMPAS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5384" y="1188720"/>
            <a:ext cx="3749039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15384" y="1188720"/>
            <a:ext cx="3749039" cy="5029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4" y="1207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Table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6824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cox-violent-parsed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2544" y="1874519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▸  Table pivot de l'étude ProPublica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2544" y="244144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▸  Relie score COMPAS ↔ récidive réelle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2544" y="3008376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▸  Plusieurs lignes / personne (charges multiples)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2544" y="357530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▸  Version filtrée : 12 cols admin retirées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02168" y="1188720"/>
            <a:ext cx="3749039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02168" y="1188720"/>
            <a:ext cx="3749039" cy="50292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1207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Table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propublica_data_for_fairml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1874519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▸  Version ultra-simplifiée (12 colonnes seulement)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244144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▸  Score décile → binarisé 0/1 (information perdue)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3008376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▸  Pas de dates, pas d'infractions juvéniles, pas de récidive violente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357530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▸  Utile pour benchmark rapide — pas pour un audit rigoureux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Qualité des Données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3429000" cy="548640"/>
          </a:xfrm>
          <a:prstGeom prst="rect">
            <a:avLst/>
          </a:prstGeom>
          <a:solidFill>
            <a:srgbClr val="12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984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1188720"/>
            <a:ext cx="1325880" cy="548640"/>
          </a:xfrm>
          <a:prstGeom prst="rect">
            <a:avLst/>
          </a:prstGeom>
          <a:solidFill>
            <a:srgbClr val="12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79" y="129844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Lignes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1188720"/>
            <a:ext cx="1600200" cy="548640"/>
          </a:xfrm>
          <a:prstGeom prst="rect">
            <a:avLst/>
          </a:prstGeom>
          <a:solidFill>
            <a:srgbClr val="12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29844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Doublons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188720"/>
            <a:ext cx="4983480" cy="548640"/>
          </a:xfrm>
          <a:prstGeom prst="rect">
            <a:avLst/>
          </a:prstGeom>
          <a:solidFill>
            <a:srgbClr val="12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29844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Valeurs manquantes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737360"/>
            <a:ext cx="3429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84708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compas-scores-raw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1737360"/>
            <a:ext cx="1325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79" y="1847088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60 871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66360" y="1737360"/>
            <a:ext cx="1600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184708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Aucun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737360"/>
            <a:ext cx="4983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184708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Quasi nulles (colonnes optionnelles)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286000"/>
            <a:ext cx="342900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39572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cox-violent-parsed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39" y="2286000"/>
            <a:ext cx="132588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79" y="2395728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~18 000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66360" y="2286000"/>
            <a:ext cx="160020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239572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Aucun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2286000"/>
            <a:ext cx="4983480" cy="5486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239572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Structurelles — absence d'événement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2834639"/>
            <a:ext cx="3429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94436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propublica_data_for_fairml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39" y="2834639"/>
            <a:ext cx="1325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79" y="2944368"/>
            <a:ext cx="1234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6 172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66360" y="2834639"/>
            <a:ext cx="16002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57800" y="294436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Aucun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2834639"/>
            <a:ext cx="4983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0" y="2944368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Aucune — mais version très appauvrie (12 cols)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3657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B8B"/>
                </a:solidFill>
              </a:rPr>
              <a:t>Conclusions clés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4160520"/>
            <a:ext cx="11612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1A1A2E"/>
                </a:solidFill>
              </a:rPr>
              <a:t>▸ Aucune imputation classique nécessaire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  – Les « trous » de la Table 2 sont structurels (pas de récidive = pas de lignes r_*)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A1A2E"/>
                </a:solidFill>
              </a:rPr>
              <a:t>▸ Données fiables pour l'analyse exploratoire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  – Cohérence démographique confirmée entre les 3 sources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Démographie Comparée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B8B"/>
                </a:solidFill>
              </a:rPr>
              <a:t>Origine ethnique — cohérence entre les 3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Afro-Américains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874519"/>
            <a:ext cx="3738067" cy="50292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87107" y="1920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51 %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Caucasiens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2697479"/>
            <a:ext cx="2465222" cy="502920"/>
          </a:xfrm>
          <a:prstGeom prst="rect">
            <a:avLst/>
          </a:prstGeom>
          <a:solidFill>
            <a:srgbClr val="12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4262" y="2743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34 %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Hispaniques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3520439"/>
            <a:ext cx="607161" cy="5029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6201" y="3566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8 %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Autres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4343400"/>
            <a:ext cx="504748" cy="502920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3788" y="4389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7 %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394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77"/>
                </a:solidFill>
              </a:rPr>
              <a:t>Sexe : population majoritairement masculine (~80 %) — classique en contexte pénal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77"/>
                </a:solidFill>
              </a:rPr>
              <a:t>Âge dominant : 25–45 ans dans les 3 sources — cohérence confirmée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Distribution des Scores COMPAS par Groupe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Score de risque de récidive (DecileScore : 1 à 10) croisé avec l'origine ethnique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600200"/>
            <a:ext cx="557784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89320" y="1600200"/>
            <a:ext cx="59436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600200"/>
            <a:ext cx="5577840" cy="45720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600200"/>
            <a:ext cx="5943600" cy="457200"/>
          </a:xfrm>
          <a:prstGeom prst="rect">
            <a:avLst/>
          </a:prstGeom>
          <a:solidFill>
            <a:srgbClr val="12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459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Afro-Américains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64592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Caucasiens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1945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</a:rPr>
              <a:t>▸ Distribution quasi uniforme sur 1–10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</a:rPr>
              <a:t>▸ Scores élevés (7–10) représentés autant que les faibles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</a:rPr>
              <a:t>▸ Proportion importante classée « High Risk »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</a:rPr>
              <a:t>▸ Signal d'une sur-évaluation systématique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19456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</a:rPr>
              <a:t>▸ Distribution fortement concentrée sur 1–3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</a:rPr>
              <a:t>▸ Scores élevés (7–10) rares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</a:rPr>
              <a:t>▸ Majorité classée « Low Risk »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A1A2E"/>
                </a:solidFill>
              </a:rPr>
              <a:t>▸ Signal d'une sous-évaluation symétrique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4A5F"/>
                </a:solidFill>
              </a:rPr>
              <a:t>➜  Ce constat reproduit à l'échelle du dataset l'affaire Borden/Prater documentée par ProPublica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Score Prédit vs Récidive Réelle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1A2E"/>
                </a:solidFill>
              </a:rPr>
              <a:t>La question centrale : le score prédit-il correctement la récidive, de la même façon pour tous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45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B8B"/>
                </a:solidFill>
              </a:rPr>
              <a:t>Erreurs de classification asymétriques (Table 2 — cox-violent-parsed)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54864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Faux Positifs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Score : High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Récidive réelle : NON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6849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→ personne pénalisée à tort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3542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Surreprésenté chez les Afro-Américains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194560"/>
            <a:ext cx="54864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12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2402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Faux Négatifs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34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Score : Low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0156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Récidive réelle : OUI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6849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→ risque sous-estimé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3542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Surreprésenté chez les Caucasiens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4465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77"/>
                </a:solidFill>
              </a:rPr>
              <a:t>Si COMPAS était équitable, ces erreurs devraient être symétriques entre groupes.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Antécédents Judiciaires — Variable de Confusion Clé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1A2E"/>
                </a:solidFill>
              </a:rPr>
              <a:t>priors_count : variable la plus corrélée au score COMPAS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600200"/>
            <a:ext cx="117043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1">
                <a:solidFill>
                  <a:srgbClr val="1A1A2E"/>
                </a:solidFill>
              </a:rPr>
              <a:t>▸ Corrélation forte priors_count ↔ DecileScore — relation quasi monotone, attendue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A1A2E"/>
                </a:solidFill>
              </a:rPr>
              <a:t>▸ Déséquilibre observé entre groupes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  – Les prévenus Afro-Américains présentent en médiane plus d'antécédents enregistrés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  – Ce déséquilibre peut s'expliquer par des biais systémiques dans les taux d'arrestation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A1A2E"/>
                </a:solidFill>
              </a:rPr>
              <a:t>▸ Double biais potentiel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  – Si priors_count est lui-même biaisé → le score COMPAS hérite de ce biais</a:t>
            </a:r>
          </a:p>
          <a:p>
            <a:pPr lvl="1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  – Variable de confusion : difficile de séparer « risque réel » de « sur-représentation dans le système »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5257800"/>
            <a:ext cx="11704320" cy="13716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532180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8B"/>
                </a:solidFill>
              </a:rPr>
              <a:t>Anticipation — Partie 4 (SHAP)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6875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score_factor est plus corrélé à African_American et Number_of_Priors qu'à Two_yr_Recidivism elle-même → premier signal quantitatif du biais (matrice de corrélation, Table 3 — benchmark). La modélisation rigoureuse s'appuiera sur la Table 2 (cox-violent-parsed), plus complète.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Synthèse — Ce qu'on retient de la Partie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73152" cy="8229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3 tables cohérentes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66"/>
                </a:solidFill>
              </a:rPr>
              <a:t>Structure démographique alignée — peuvent être exploitées conjointement pour l'audit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212848"/>
            <a:ext cx="73152" cy="8229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3113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Données de bonne qualité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243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66"/>
                </a:solidFill>
              </a:rPr>
              <a:t>Aucune valeur manquante structurellement problématique — pas d'imputation nécessaire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236976"/>
            <a:ext cx="73152" cy="82296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5526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Premier signal de biais — Distribution des scores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4845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66"/>
                </a:solidFill>
              </a:rPr>
              <a:t>Quasi uniforme chez les Afro-Américains vs concentrée sur le bas pour les Caucasiens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261104"/>
            <a:ext cx="73152" cy="82296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2793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Premier signal de biais — Erreurs asymétriques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7258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66"/>
                </a:solidFill>
              </a:rPr>
              <a:t>Faux positifs surreprésentés chez les Afro-Américains, faux négatifs chez les Caucasiens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285232"/>
            <a:ext cx="73152" cy="82296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303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Variable de confusion identifiée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9671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44466"/>
                </a:solidFill>
              </a:rPr>
              <a:t>priors_count potentiellement biaisé → corrélé plus à l'ethnicité qu'à la récidive réelle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0080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B8B"/>
                </a:solidFill>
              </a:rPr>
              <a:t>➜  Ces constats orientent directement le Feature Engineering (Partie 2) et l'audit SHAP + fairlearn (Parties 4 &amp; 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88952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Et maintenant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0D8D8"/>
                </a:solidFill>
              </a:rPr>
              <a:t>Roadmap du projet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194560" cy="329184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194560" cy="4572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Partie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EDA &amp; Données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EE"/>
                </a:solidFill>
              </a:rPr>
              <a:t>Terminée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2286000"/>
            <a:ext cx="2194560" cy="3291840"/>
          </a:xfrm>
          <a:prstGeom prst="rect">
            <a:avLst/>
          </a:prstGeom>
          <a:solidFill>
            <a:srgbClr val="1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2286000"/>
            <a:ext cx="2194560" cy="457200"/>
          </a:xfrm>
          <a:prstGeom prst="rect">
            <a:avLst/>
          </a:prstGeom>
          <a:solidFill>
            <a:srgbClr val="44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3317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Partie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834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4747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EE"/>
                </a:solidFill>
              </a:rPr>
              <a:t>Encodage, cleaning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2286000"/>
            <a:ext cx="2194560" cy="3291840"/>
          </a:xfrm>
          <a:prstGeom prst="rect">
            <a:avLst/>
          </a:prstGeom>
          <a:solidFill>
            <a:srgbClr val="1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2286000"/>
            <a:ext cx="2194560" cy="457200"/>
          </a:xfrm>
          <a:prstGeom prst="rect">
            <a:avLst/>
          </a:prstGeom>
          <a:solidFill>
            <a:srgbClr val="44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9" y="23317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Partie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9" y="2834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Modélisation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9" y="34747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EE"/>
                </a:solidFill>
              </a:rPr>
              <a:t>sklearn + XGBoost + Optuna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59" y="2286000"/>
            <a:ext cx="2194560" cy="3291840"/>
          </a:xfrm>
          <a:prstGeom prst="rect">
            <a:avLst/>
          </a:prstGeom>
          <a:solidFill>
            <a:srgbClr val="1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359" y="2286000"/>
            <a:ext cx="2194560" cy="457200"/>
          </a:xfrm>
          <a:prstGeom prst="rect">
            <a:avLst/>
          </a:prstGeom>
          <a:solidFill>
            <a:srgbClr val="44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799" y="23317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Partie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799" y="2834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Explicabilité (XAI)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799" y="34747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EE"/>
                </a:solidFill>
              </a:rPr>
              <a:t>SHAP · LIME · SAGE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2286000"/>
            <a:ext cx="2194560" cy="3291840"/>
          </a:xfrm>
          <a:prstGeom prst="rect">
            <a:avLst/>
          </a:prstGeom>
          <a:solidFill>
            <a:srgbClr val="1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84080" y="2286000"/>
            <a:ext cx="2194560" cy="457200"/>
          </a:xfrm>
          <a:prstGeom prst="rect">
            <a:avLst/>
          </a:prstGeom>
          <a:solidFill>
            <a:srgbClr val="44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19" y="23317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Partie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19" y="2834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Audit d'équité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34747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EE"/>
                </a:solidFill>
              </a:rPr>
              <a:t>fairlearn + métriques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